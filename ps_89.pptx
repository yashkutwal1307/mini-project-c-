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56" r:id="rId2"/>
    <p:sldId id="257" r:id="rId3"/>
    <p:sldId id="259" r:id="rId4"/>
    <p:sldId id="260" r:id="rId5"/>
    <p:sldId id="261" r:id="rId6"/>
    <p:sldId id="262" r:id="rId7"/>
    <p:sldId id="258"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60"/>
  </p:normalViewPr>
  <p:slideViewPr>
    <p:cSldViewPr snapToGrid="0">
      <p:cViewPr>
        <p:scale>
          <a:sx n="140" d="100"/>
          <a:sy n="140" d="100"/>
        </p:scale>
        <p:origin x="944" y="5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ff573c996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ff573c996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6F5B62C5-0495-3ACB-3C18-23A2E030B1B8}"/>
            </a:ext>
          </a:extLst>
        </p:cNvPr>
        <p:cNvGrpSpPr/>
        <p:nvPr/>
      </p:nvGrpSpPr>
      <p:grpSpPr>
        <a:xfrm>
          <a:off x="0" y="0"/>
          <a:ext cx="0" cy="0"/>
          <a:chOff x="0" y="0"/>
          <a:chExt cx="0" cy="0"/>
        </a:xfrm>
      </p:grpSpPr>
      <p:sp>
        <p:nvSpPr>
          <p:cNvPr id="57" name="Google Shape;57;g3aff573c996_1_1:notes">
            <a:extLst>
              <a:ext uri="{FF2B5EF4-FFF2-40B4-BE49-F238E27FC236}">
                <a16:creationId xmlns:a16="http://schemas.microsoft.com/office/drawing/2014/main" id="{87F8604E-9993-F3AC-5942-E13272FE98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ff573c996_1_1:notes">
            <a:extLst>
              <a:ext uri="{FF2B5EF4-FFF2-40B4-BE49-F238E27FC236}">
                <a16:creationId xmlns:a16="http://schemas.microsoft.com/office/drawing/2014/main" id="{1E95EE44-151F-FDC1-67A9-7A68AB651B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1539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6AF19314-C4D7-8804-E94B-00C0C7D167BE}"/>
            </a:ext>
          </a:extLst>
        </p:cNvPr>
        <p:cNvGrpSpPr/>
        <p:nvPr/>
      </p:nvGrpSpPr>
      <p:grpSpPr>
        <a:xfrm>
          <a:off x="0" y="0"/>
          <a:ext cx="0" cy="0"/>
          <a:chOff x="0" y="0"/>
          <a:chExt cx="0" cy="0"/>
        </a:xfrm>
      </p:grpSpPr>
      <p:sp>
        <p:nvSpPr>
          <p:cNvPr id="57" name="Google Shape;57;g3aff573c996_1_1:notes">
            <a:extLst>
              <a:ext uri="{FF2B5EF4-FFF2-40B4-BE49-F238E27FC236}">
                <a16:creationId xmlns:a16="http://schemas.microsoft.com/office/drawing/2014/main" id="{EBC72B40-1FEA-D8A5-BF1E-22577AA6A1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ff573c996_1_1:notes">
            <a:extLst>
              <a:ext uri="{FF2B5EF4-FFF2-40B4-BE49-F238E27FC236}">
                <a16:creationId xmlns:a16="http://schemas.microsoft.com/office/drawing/2014/main" id="{142C50A5-B9CE-DF96-BF6D-FAF7E8921C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9754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1E88857B-5318-9B03-8D07-BB47BED92E12}"/>
            </a:ext>
          </a:extLst>
        </p:cNvPr>
        <p:cNvGrpSpPr/>
        <p:nvPr/>
      </p:nvGrpSpPr>
      <p:grpSpPr>
        <a:xfrm>
          <a:off x="0" y="0"/>
          <a:ext cx="0" cy="0"/>
          <a:chOff x="0" y="0"/>
          <a:chExt cx="0" cy="0"/>
        </a:xfrm>
      </p:grpSpPr>
      <p:sp>
        <p:nvSpPr>
          <p:cNvPr id="57" name="Google Shape;57;g3aff573c996_1_1:notes">
            <a:extLst>
              <a:ext uri="{FF2B5EF4-FFF2-40B4-BE49-F238E27FC236}">
                <a16:creationId xmlns:a16="http://schemas.microsoft.com/office/drawing/2014/main" id="{FFD9EECF-81A6-352A-8C46-3E177B2EA7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ff573c996_1_1:notes">
            <a:extLst>
              <a:ext uri="{FF2B5EF4-FFF2-40B4-BE49-F238E27FC236}">
                <a16:creationId xmlns:a16="http://schemas.microsoft.com/office/drawing/2014/main" id="{4D46561D-7DB3-E708-5059-CE37299C9F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03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B8248D89-0261-5E3E-8C93-E1097A2A18C1}"/>
            </a:ext>
          </a:extLst>
        </p:cNvPr>
        <p:cNvGrpSpPr/>
        <p:nvPr/>
      </p:nvGrpSpPr>
      <p:grpSpPr>
        <a:xfrm>
          <a:off x="0" y="0"/>
          <a:ext cx="0" cy="0"/>
          <a:chOff x="0" y="0"/>
          <a:chExt cx="0" cy="0"/>
        </a:xfrm>
      </p:grpSpPr>
      <p:sp>
        <p:nvSpPr>
          <p:cNvPr id="57" name="Google Shape;57;g3aff573c996_1_1:notes">
            <a:extLst>
              <a:ext uri="{FF2B5EF4-FFF2-40B4-BE49-F238E27FC236}">
                <a16:creationId xmlns:a16="http://schemas.microsoft.com/office/drawing/2014/main" id="{A8EBF860-22C3-4FD5-7AFE-FCBFF02550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ff573c996_1_1:notes">
            <a:extLst>
              <a:ext uri="{FF2B5EF4-FFF2-40B4-BE49-F238E27FC236}">
                <a16:creationId xmlns:a16="http://schemas.microsoft.com/office/drawing/2014/main" id="{D6B410FE-1F87-13B9-14A8-AE0FF03A76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8827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aff573c996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aff573c996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81B50"/>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b="1">
                <a:solidFill>
                  <a:schemeClr val="lt1"/>
                </a:solidFill>
              </a:rPr>
              <a:t>Project title</a:t>
            </a:r>
            <a:endParaRPr b="1">
              <a:solidFill>
                <a:schemeClr val="lt1"/>
              </a:solidFill>
            </a:endParaRPr>
          </a:p>
          <a:p>
            <a:pPr marL="0" lvl="0" indent="0" algn="ctr" rtl="0">
              <a:spcBef>
                <a:spcPts val="0"/>
              </a:spcBef>
              <a:spcAft>
                <a:spcPts val="0"/>
              </a:spcAft>
              <a:buNone/>
            </a:pPr>
            <a:r>
              <a:rPr lang="en-GB" sz="832" b="1">
                <a:solidFill>
                  <a:schemeClr val="lt1"/>
                </a:solidFill>
              </a:rPr>
              <a:t>By Stduent Name/Group Name</a:t>
            </a:r>
            <a:endParaRPr sz="832" b="1">
              <a:solidFill>
                <a:schemeClr val="lt1"/>
              </a:solidFill>
            </a:endParaRPr>
          </a:p>
        </p:txBody>
      </p:sp>
      <p:pic>
        <p:nvPicPr>
          <p:cNvPr id="55" name="Google Shape;55;p13" title="download.png"/>
          <p:cNvPicPr preferRelativeResize="0"/>
          <p:nvPr/>
        </p:nvPicPr>
        <p:blipFill>
          <a:blip r:embed="rId3">
            <a:alphaModFix/>
          </a:blip>
          <a:stretch>
            <a:fillRect/>
          </a:stretch>
        </p:blipFill>
        <p:spPr>
          <a:xfrm>
            <a:off x="2662238" y="942350"/>
            <a:ext cx="3819525" cy="1200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solidFill>
                  <a:srgbClr val="A81B50"/>
                </a:solidFill>
              </a:rPr>
              <a:t>Index</a:t>
            </a:r>
            <a:endParaRPr b="1">
              <a:solidFill>
                <a:srgbClr val="A81B50"/>
              </a:solidFill>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GB" dirty="0"/>
              <a:t>Problem Statement</a:t>
            </a:r>
            <a:endParaRPr dirty="0"/>
          </a:p>
          <a:p>
            <a:pPr marL="457200" lvl="0" indent="-342900" algn="l" rtl="0">
              <a:spcBef>
                <a:spcPts val="0"/>
              </a:spcBef>
              <a:spcAft>
                <a:spcPts val="0"/>
              </a:spcAft>
              <a:buSzPts val="1800"/>
              <a:buAutoNum type="arabicPeriod"/>
            </a:pPr>
            <a:r>
              <a:rPr lang="en-GB" dirty="0"/>
              <a:t>Your solution</a:t>
            </a:r>
            <a:endParaRPr dirty="0"/>
          </a:p>
          <a:p>
            <a:pPr marL="457200" lvl="0" indent="-342900" algn="l" rtl="0">
              <a:spcBef>
                <a:spcPts val="0"/>
              </a:spcBef>
              <a:spcAft>
                <a:spcPts val="0"/>
              </a:spcAft>
              <a:buSzPts val="1800"/>
              <a:buAutoNum type="arabicPeriod"/>
            </a:pPr>
            <a:r>
              <a:rPr lang="en-GB" dirty="0"/>
              <a:t>Working (Method/Mind map)</a:t>
            </a:r>
            <a:endParaRPr dirty="0"/>
          </a:p>
          <a:p>
            <a:pPr marL="457200" lvl="0" indent="-342900" algn="l" rtl="0">
              <a:spcBef>
                <a:spcPts val="0"/>
              </a:spcBef>
              <a:spcAft>
                <a:spcPts val="0"/>
              </a:spcAft>
              <a:buSzPts val="1800"/>
              <a:buAutoNum type="arabicPeriod"/>
            </a:pPr>
            <a:r>
              <a:rPr lang="en-GB" dirty="0"/>
              <a:t>Conclusion.</a:t>
            </a:r>
            <a:endParaRPr dirty="0"/>
          </a:p>
        </p:txBody>
      </p:sp>
      <p:pic>
        <p:nvPicPr>
          <p:cNvPr id="62" name="Google Shape;62;p14" title="images.jpeg"/>
          <p:cNvPicPr preferRelativeResize="0"/>
          <p:nvPr/>
        </p:nvPicPr>
        <p:blipFill>
          <a:blip r:embed="rId3">
            <a:alphaModFix/>
          </a:blip>
          <a:stretch>
            <a:fillRect/>
          </a:stretch>
        </p:blipFill>
        <p:spPr>
          <a:xfrm>
            <a:off x="7914199" y="3992274"/>
            <a:ext cx="918100" cy="918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05571170-1C3E-2686-91E2-785ED2FC820D}"/>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8DF42885-7B5D-D0A3-B253-6E502BB75FB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solidFill>
                  <a:srgbClr val="A81B50"/>
                </a:solidFill>
              </a:rPr>
              <a:t>PROBLEM STATEMENT</a:t>
            </a:r>
            <a:endParaRPr b="1" dirty="0">
              <a:solidFill>
                <a:srgbClr val="A81B50"/>
              </a:solidFill>
            </a:endParaRPr>
          </a:p>
        </p:txBody>
      </p:sp>
      <p:sp>
        <p:nvSpPr>
          <p:cNvPr id="3" name="TextBox 2">
            <a:extLst>
              <a:ext uri="{FF2B5EF4-FFF2-40B4-BE49-F238E27FC236}">
                <a16:creationId xmlns:a16="http://schemas.microsoft.com/office/drawing/2014/main" id="{931196C6-6348-F9CB-A721-2F70F0F17F55}"/>
              </a:ext>
            </a:extLst>
          </p:cNvPr>
          <p:cNvSpPr txBox="1"/>
          <p:nvPr/>
        </p:nvSpPr>
        <p:spPr>
          <a:xfrm>
            <a:off x="311700" y="1444445"/>
            <a:ext cx="8449123" cy="2862322"/>
          </a:xfrm>
          <a:prstGeom prst="rect">
            <a:avLst/>
          </a:prstGeom>
          <a:noFill/>
        </p:spPr>
        <p:txBody>
          <a:bodyPr wrap="square">
            <a:spAutoFit/>
          </a:bodyPr>
          <a:lstStyle/>
          <a:p>
            <a:r>
              <a:rPr lang="en-AU" sz="1800" dirty="0"/>
              <a:t>Retail stores require fast and accurate billing systems to manage transactions and calculate taxes.</a:t>
            </a:r>
          </a:p>
          <a:p>
            <a:r>
              <a:rPr lang="en-AU" sz="1800" dirty="0"/>
              <a:t>Manual billing methods can cause:</a:t>
            </a:r>
          </a:p>
          <a:p>
            <a:endParaRPr lang="en-AU" sz="1800" dirty="0"/>
          </a:p>
          <a:p>
            <a:r>
              <a:rPr lang="en-AU" sz="1800" dirty="0"/>
              <a:t>1.Calculation errors</a:t>
            </a:r>
          </a:p>
          <a:p>
            <a:r>
              <a:rPr lang="en-AU" sz="1800" dirty="0"/>
              <a:t>2.Time delays</a:t>
            </a:r>
          </a:p>
          <a:p>
            <a:r>
              <a:rPr lang="en-AU" sz="1800" dirty="0"/>
              <a:t>3.Inefficient record keeping</a:t>
            </a:r>
          </a:p>
          <a:p>
            <a:endParaRPr lang="en-AU" sz="1800" dirty="0"/>
          </a:p>
          <a:p>
            <a:r>
              <a:rPr lang="en-AU" sz="1800" dirty="0"/>
              <a:t>The POS Billing &amp; GST System automates the billing process and ensures accurate GST calculations.</a:t>
            </a:r>
          </a:p>
        </p:txBody>
      </p:sp>
    </p:spTree>
    <p:extLst>
      <p:ext uri="{BB962C8B-B14F-4D97-AF65-F5344CB8AC3E}">
        <p14:creationId xmlns:p14="http://schemas.microsoft.com/office/powerpoint/2010/main" val="4201466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3A3CEBBD-2596-3AA9-15EF-FEDA2B947717}"/>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A7B67810-EB00-B5A0-069E-D427E61B838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solidFill>
                  <a:srgbClr val="A81B50"/>
                </a:solidFill>
              </a:rPr>
              <a:t>PROPOSED SOLUTION</a:t>
            </a:r>
            <a:endParaRPr b="1" dirty="0">
              <a:solidFill>
                <a:srgbClr val="A81B50"/>
              </a:solidFill>
            </a:endParaRPr>
          </a:p>
        </p:txBody>
      </p:sp>
      <p:sp>
        <p:nvSpPr>
          <p:cNvPr id="3" name="TextBox 2">
            <a:extLst>
              <a:ext uri="{FF2B5EF4-FFF2-40B4-BE49-F238E27FC236}">
                <a16:creationId xmlns:a16="http://schemas.microsoft.com/office/drawing/2014/main" id="{C207982D-D363-EBA3-9C42-476CE275A8A8}"/>
              </a:ext>
            </a:extLst>
          </p:cNvPr>
          <p:cNvSpPr txBox="1"/>
          <p:nvPr/>
        </p:nvSpPr>
        <p:spPr>
          <a:xfrm>
            <a:off x="217714" y="1340643"/>
            <a:ext cx="8717280" cy="2677656"/>
          </a:xfrm>
          <a:prstGeom prst="rect">
            <a:avLst/>
          </a:prstGeom>
          <a:noFill/>
        </p:spPr>
        <p:txBody>
          <a:bodyPr wrap="square">
            <a:spAutoFit/>
          </a:bodyPr>
          <a:lstStyle/>
          <a:p>
            <a:r>
              <a:rPr lang="en-AU" dirty="0"/>
              <a:t>The </a:t>
            </a:r>
            <a:r>
              <a:rPr lang="en-AU" b="1" dirty="0"/>
              <a:t>POS Billing &amp; GST System</a:t>
            </a:r>
            <a:r>
              <a:rPr lang="en-AU" dirty="0"/>
              <a:t> provides a simple software solution to automate retail billing and tax calculation.</a:t>
            </a:r>
          </a:p>
          <a:p>
            <a:endParaRPr lang="en-AU" dirty="0"/>
          </a:p>
          <a:p>
            <a:r>
              <a:rPr lang="en-AU" dirty="0"/>
              <a:t>The system solves the problem by:</a:t>
            </a:r>
          </a:p>
          <a:p>
            <a:r>
              <a:rPr lang="en-AU" dirty="0"/>
              <a:t>1.Allowing </a:t>
            </a:r>
            <a:r>
              <a:rPr lang="en-AU" b="1" dirty="0"/>
              <a:t>product selection using Product ID</a:t>
            </a:r>
            <a:r>
              <a:rPr lang="en-AU" dirty="0"/>
              <a:t> (simulating product scanning)</a:t>
            </a:r>
          </a:p>
          <a:p>
            <a:r>
              <a:rPr lang="en-AU" dirty="0"/>
              <a:t>2.Automatically </a:t>
            </a:r>
            <a:r>
              <a:rPr lang="en-AU" b="1" dirty="0"/>
              <a:t>calculating GST based on product tax rate</a:t>
            </a:r>
            <a:endParaRPr lang="en-AU" dirty="0"/>
          </a:p>
          <a:p>
            <a:r>
              <a:rPr lang="en-AU" dirty="0"/>
              <a:t>3.Generating a </a:t>
            </a:r>
            <a:r>
              <a:rPr lang="en-AU" b="1" dirty="0"/>
              <a:t>clear and accurate invoice</a:t>
            </a:r>
            <a:endParaRPr lang="en-AU" dirty="0"/>
          </a:p>
          <a:p>
            <a:r>
              <a:rPr lang="en-AU" dirty="0"/>
              <a:t>4.Displaying the </a:t>
            </a:r>
            <a:r>
              <a:rPr lang="en-AU" b="1" dirty="0"/>
              <a:t>total bill amount</a:t>
            </a:r>
            <a:endParaRPr lang="en-AU" dirty="0"/>
          </a:p>
          <a:p>
            <a:r>
              <a:rPr lang="en-AU" dirty="0"/>
              <a:t>5.Providing a </a:t>
            </a:r>
            <a:r>
              <a:rPr lang="en-AU" b="1" dirty="0"/>
              <a:t>daily sales summary with total GST collected</a:t>
            </a:r>
          </a:p>
          <a:p>
            <a:endParaRPr lang="en-AU" dirty="0"/>
          </a:p>
          <a:p>
            <a:r>
              <a:rPr lang="en-AU" dirty="0"/>
              <a:t>This solution reduces manual calculation errors and improves the efficiency of the billing process in retail stores.</a:t>
            </a:r>
          </a:p>
        </p:txBody>
      </p:sp>
    </p:spTree>
    <p:extLst>
      <p:ext uri="{BB962C8B-B14F-4D97-AF65-F5344CB8AC3E}">
        <p14:creationId xmlns:p14="http://schemas.microsoft.com/office/powerpoint/2010/main" val="2534110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4F0E734D-94E9-668B-9AEC-3BD7373AD3B1}"/>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D745695E-6AF8-37A9-AF91-1441317AB49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solidFill>
                  <a:srgbClr val="A81B50"/>
                </a:solidFill>
              </a:rPr>
              <a:t>WORKING</a:t>
            </a:r>
            <a:endParaRPr b="1" dirty="0">
              <a:solidFill>
                <a:srgbClr val="A81B50"/>
              </a:solidFill>
            </a:endParaRPr>
          </a:p>
        </p:txBody>
      </p:sp>
      <p:sp>
        <p:nvSpPr>
          <p:cNvPr id="7" name="AutoShape 2" descr="Generated image">
            <a:extLst>
              <a:ext uri="{FF2B5EF4-FFF2-40B4-BE49-F238E27FC236}">
                <a16:creationId xmlns:a16="http://schemas.microsoft.com/office/drawing/2014/main" id="{31400F48-E070-CC1A-050E-7F71B92A0F34}"/>
              </a:ext>
            </a:extLst>
          </p:cNvPr>
          <p:cNvSpPr>
            <a:spLocks noChangeAspect="1" noChangeArrowheads="1"/>
          </p:cNvSpPr>
          <p:nvPr/>
        </p:nvSpPr>
        <p:spPr bwMode="auto">
          <a:xfrm>
            <a:off x="4419599" y="2419349"/>
            <a:ext cx="2605889" cy="260588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diagram of a product&#10;&#10;AI-generated content may be incorrect.">
            <a:extLst>
              <a:ext uri="{FF2B5EF4-FFF2-40B4-BE49-F238E27FC236}">
                <a16:creationId xmlns:a16="http://schemas.microsoft.com/office/drawing/2014/main" id="{6539A190-4E77-4C04-92C0-CD4FFE777DD0}"/>
              </a:ext>
            </a:extLst>
          </p:cNvPr>
          <p:cNvPicPr>
            <a:picLocks noChangeAspect="1"/>
          </p:cNvPicPr>
          <p:nvPr/>
        </p:nvPicPr>
        <p:blipFill>
          <a:blip r:embed="rId3"/>
          <a:srcRect b="20165"/>
          <a:stretch>
            <a:fillRect/>
          </a:stretch>
        </p:blipFill>
        <p:spPr>
          <a:xfrm>
            <a:off x="3113532" y="772668"/>
            <a:ext cx="3762550" cy="3925807"/>
          </a:xfrm>
          <a:prstGeom prst="rect">
            <a:avLst/>
          </a:prstGeom>
        </p:spPr>
      </p:pic>
    </p:spTree>
    <p:extLst>
      <p:ext uri="{BB962C8B-B14F-4D97-AF65-F5344CB8AC3E}">
        <p14:creationId xmlns:p14="http://schemas.microsoft.com/office/powerpoint/2010/main" val="791377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E3E93428-2831-C554-C894-DBDBD07A5B49}"/>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2C7DEF63-055C-365A-C136-5CCCFE6EE9C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solidFill>
                  <a:srgbClr val="A81B50"/>
                </a:solidFill>
              </a:rPr>
              <a:t>CONCLUSION</a:t>
            </a:r>
            <a:endParaRPr b="1" dirty="0">
              <a:solidFill>
                <a:srgbClr val="A81B50"/>
              </a:solidFill>
            </a:endParaRPr>
          </a:p>
        </p:txBody>
      </p:sp>
      <p:sp>
        <p:nvSpPr>
          <p:cNvPr id="7" name="AutoShape 2" descr="Generated image">
            <a:extLst>
              <a:ext uri="{FF2B5EF4-FFF2-40B4-BE49-F238E27FC236}">
                <a16:creationId xmlns:a16="http://schemas.microsoft.com/office/drawing/2014/main" id="{9C35C5B4-67A8-E573-A285-36EE3440AF6C}"/>
              </a:ext>
            </a:extLst>
          </p:cNvPr>
          <p:cNvSpPr>
            <a:spLocks noChangeAspect="1" noChangeArrowheads="1"/>
          </p:cNvSpPr>
          <p:nvPr/>
        </p:nvSpPr>
        <p:spPr bwMode="auto">
          <a:xfrm>
            <a:off x="4419599" y="2419349"/>
            <a:ext cx="2605889" cy="260588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E6338A27-8B95-897F-994B-C87554F071F6}"/>
              </a:ext>
            </a:extLst>
          </p:cNvPr>
          <p:cNvSpPr txBox="1"/>
          <p:nvPr/>
        </p:nvSpPr>
        <p:spPr>
          <a:xfrm>
            <a:off x="353138" y="1264613"/>
            <a:ext cx="8437723" cy="2893100"/>
          </a:xfrm>
          <a:prstGeom prst="rect">
            <a:avLst/>
          </a:prstGeom>
          <a:noFill/>
        </p:spPr>
        <p:txBody>
          <a:bodyPr wrap="square">
            <a:spAutoFit/>
          </a:bodyPr>
          <a:lstStyle/>
          <a:p>
            <a:r>
              <a:rPr lang="en-AU" dirty="0"/>
              <a:t>The </a:t>
            </a:r>
            <a:r>
              <a:rPr lang="en-AU" b="1" dirty="0"/>
              <a:t>POS Billing &amp; GST System</a:t>
            </a:r>
            <a:r>
              <a:rPr lang="en-AU" dirty="0"/>
              <a:t> successfully demonstrates how programming can be used to automate the retail billing process. The system allows users to select products, calculate GST automatically, and generate an invoice for the customer. By automating these calculations, the system helps reduce human errors that commonly occur in manual billing.</a:t>
            </a:r>
          </a:p>
          <a:p>
            <a:endParaRPr lang="en-AU" dirty="0"/>
          </a:p>
          <a:p>
            <a:r>
              <a:rPr lang="en-AU" dirty="0"/>
              <a:t>The project also provides a clear summary of total sales and GST collected, which helps store owners keep track of daily transactions. This improves efficiency and makes the billing process faster and more reliable.</a:t>
            </a:r>
          </a:p>
          <a:p>
            <a:endParaRPr lang="en-AU" dirty="0"/>
          </a:p>
          <a:p>
            <a:r>
              <a:rPr lang="en-AU" dirty="0"/>
              <a:t>Through the development of this project, important C++ programming concepts such as </a:t>
            </a:r>
            <a:r>
              <a:rPr lang="en-AU" b="1" dirty="0"/>
              <a:t>structures, arrays, loops, and conditional statements</a:t>
            </a:r>
            <a:r>
              <a:rPr lang="en-AU" dirty="0"/>
              <a:t> were applied to solve a real-world problem. Overall, the system shows how simple software solutions can make retail operations more organized, accurate, and efficient.</a:t>
            </a:r>
          </a:p>
        </p:txBody>
      </p:sp>
    </p:spTree>
    <p:extLst>
      <p:ext uri="{BB962C8B-B14F-4D97-AF65-F5344CB8AC3E}">
        <p14:creationId xmlns:p14="http://schemas.microsoft.com/office/powerpoint/2010/main" val="2970162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81B50"/>
        </a:solidFill>
        <a:effectLst/>
      </p:bgPr>
    </p:bg>
    <p:spTree>
      <p:nvGrpSpPr>
        <p:cNvPr id="1" name="Shape 66"/>
        <p:cNvGrpSpPr/>
        <p:nvPr/>
      </p:nvGrpSpPr>
      <p:grpSpPr>
        <a:xfrm>
          <a:off x="0" y="0"/>
          <a:ext cx="0" cy="0"/>
          <a:chOff x="0" y="0"/>
          <a:chExt cx="0" cy="0"/>
        </a:xfrm>
      </p:grpSpPr>
      <p:sp>
        <p:nvSpPr>
          <p:cNvPr id="67" name="Google Shape;67;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b="1">
                <a:solidFill>
                  <a:schemeClr val="lt1"/>
                </a:solidFill>
              </a:rPr>
              <a:t>Thank You</a:t>
            </a:r>
            <a:endParaRPr b="1">
              <a:solidFill>
                <a:schemeClr val="lt1"/>
              </a:solidFill>
            </a:endParaRPr>
          </a:p>
        </p:txBody>
      </p:sp>
      <p:pic>
        <p:nvPicPr>
          <p:cNvPr id="68" name="Google Shape;68;p15" title="download.png"/>
          <p:cNvPicPr preferRelativeResize="0"/>
          <p:nvPr/>
        </p:nvPicPr>
        <p:blipFill>
          <a:blip r:embed="rId3">
            <a:alphaModFix/>
          </a:blip>
          <a:stretch>
            <a:fillRect/>
          </a:stretch>
        </p:blipFill>
        <p:spPr>
          <a:xfrm>
            <a:off x="2662238" y="942350"/>
            <a:ext cx="3819525" cy="12001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320</Words>
  <Application>Microsoft Macintosh PowerPoint</Application>
  <PresentationFormat>On-screen Show (16:9)</PresentationFormat>
  <Paragraphs>35</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Simple Light</vt:lpstr>
      <vt:lpstr>PowerPoint Presentation</vt:lpstr>
      <vt:lpstr>Index</vt:lpstr>
      <vt:lpstr>PROBLEM STATEMENT</vt:lpstr>
      <vt:lpstr>PROPOSED SOLUTION</vt:lpstr>
      <vt:lpstr>WORKING</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Naaz Fatema Ahmedi</cp:lastModifiedBy>
  <cp:revision>2</cp:revision>
  <dcterms:modified xsi:type="dcterms:W3CDTF">2026-03-07T22:26:06Z</dcterms:modified>
</cp:coreProperties>
</file>